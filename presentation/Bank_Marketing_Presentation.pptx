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(%)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A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B6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2B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Previous success</c:v>
                  </c:pt>
                  <c:pt idx="1">
                    <c:v>Previous failure</c:v>
                  </c:pt>
                  <c:pt idx="2">
                    <c:v>No history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65.1</c:v>
                </c:pt>
                <c:pt idx="1">
                  <c:v>14.2</c:v>
                </c:pt>
                <c:pt idx="2">
                  <c:v>8.8</c:v>
                </c:pt>
                <c:pt idx="3">
                  <c:v>11.3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Calibri"/>
              </a:rPr>
              <a:t>Subscription rate by contact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B6B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Cellular</c:v>
                  </c:pt>
                  <c:pt idx="1">
                    <c:v>Landline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14.7</c:v>
                </c:pt>
                <c:pt idx="1">
                  <c:v>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1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Calibri"/>
              </a:rPr>
              <a:t>Subscription rate by number of calls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4–5</c:v>
                  </c:pt>
                  <c:pt idx="4">
                    <c:v>6–10</c:v>
                  </c:pt>
                  <c:pt idx="5">
                    <c:v>10+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11.5</c:v>
                </c:pt>
                <c:pt idx="2">
                  <c:v>10.7</c:v>
                </c:pt>
                <c:pt idx="3">
                  <c:v>8.7</c:v>
                </c:pt>
                <c:pt idx="4">
                  <c:v>6.3</c:v>
                </c:pt>
                <c:pt idx="5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1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Calibri"/>
              </a:rPr>
              <a:t>Approx. subscription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B6B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Euribor ≤ 1.5</c:v>
                  </c:pt>
                  <c:pt idx="1">
                    <c:v>Euribor &gt; 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1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</c:v>
                  </c:pt>
                  <c:pt idx="1">
                    <c:v>Tree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Tuned XGB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44.8</c:v>
                </c:pt>
                <c:pt idx="1">
                  <c:v>46.4</c:v>
                </c:pt>
                <c:pt idx="2">
                  <c:v>49.5</c:v>
                </c:pt>
                <c:pt idx="3">
                  <c:v>47.7</c:v>
                </c:pt>
                <c:pt idx="4">
                  <c:v>47.7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</c:v>
                  </c:pt>
                  <c:pt idx="1">
                    <c:v>Tree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Tuned XGB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57.7</c:v>
                </c:pt>
                <c:pt idx="1">
                  <c:v>58</c:v>
                </c:pt>
                <c:pt idx="2">
                  <c:v>54.5</c:v>
                </c:pt>
                <c:pt idx="3">
                  <c:v>58</c:v>
                </c:pt>
                <c:pt idx="4">
                  <c:v>59.2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capture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48.2</c:v>
                </c:pt>
                <c:pt idx="1">
                  <c:v>65.4</c:v>
                </c:pt>
                <c:pt idx="2">
                  <c:v>72.6</c:v>
                </c:pt>
                <c:pt idx="3">
                  <c:v>76.5</c:v>
                </c:pt>
                <c:pt idx="4">
                  <c:v>82.1</c:v>
                </c:pt>
                <c:pt idx="5">
                  <c:v>86.6</c:v>
                </c:pt>
                <c:pt idx="6">
                  <c:v>90.8</c:v>
                </c:pt>
                <c:pt idx="7">
                  <c:v>94.7</c:v>
                </c:pt>
                <c:pt idx="8">
                  <c:v>97</c:v>
                </c:pt>
                <c:pt idx="9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6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670"/>
                    </a:solidFill>
                    <a:latin typeface="Arial"/>
                  </a:rPr>
                  <a:t>Score decile (1 = most likely to subscribe)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</c:scaling>
        <c:delete val="1"/>
        <c:axPos val="l"/>
        <c:majorGridlines>
          <c:spPr>
            <a:ln w="6350" cap="flat">
              <a:solidFill>
                <a:srgbClr val="E6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analyse 41,176 campaign records, build a model that ranks customers before the call, and give marketing practical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tasks: complete analysis, predictive model, suggestions for the marketing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B6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</a:rPr>
              <a:t>Portuguese Bank Marketing · Term-deposit prediction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B6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the bank call?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B6B0"/>
                </a:solidFill>
              </a:rPr>
              <a:t>Predicting term-deposit subscriptions for a Portuguese bank's telemarketing campaigns, 2008–2010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201168" cy="20116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 analysis · Predictive model · Marketing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B6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11.3% of customers said yes. Can we call the right ones first?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41,176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customers after removing 12 duplicates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645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subscribed to a term deposit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45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88.7%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468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accuracy from predicting “no” for everyone, with zero subscribers found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70"/>
                </a:solidFill>
              </a:rPr>
              <a:t>Because of the imbalance, models are judged on precision, recall and PR-AUC, not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previous success is the strongest signal: 65% subscribed again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28016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41732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</a:rPr>
              <a:t>Warm customers are rare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Only 3.3% of the list (1,373 customers).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</a:rPr>
              <a:t>So what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Put previous campaign history into any customer prioritisation.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on mobile, and stop after the second attempt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3291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931920" y="137160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0"/>
                </a:solidFill>
              </a:rPr>
              <a:t>From the third call the rate (10.7%) falls below the 11.3% campaign average.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 deposits sold best when interest rates were low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46320" y="15087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Median Euribor: 1.27% for subscribers vs 4.86% for non-subscribers.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Mar, Sep, Oct, Dec convert at 44–51% but got only 4.9% of calls.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Month and economic period are mixed together, so “call in the good months” is not the lesson.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model's top two features are euribor3m and nr.employed.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kinds of customer need three different approaches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48640" cy="73152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3.3% of list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</a:rPr>
              <a:t>65.1% response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19.3% of subscribers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</a:rPr>
              <a:t>Call first and personalise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508760"/>
            <a:ext cx="5486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Re-engagement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10.3% of list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</a:rPr>
              <a:t>14.2% response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13.0% of subscribers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New offer, limit repeat attempts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08760"/>
            <a:ext cx="548640" cy="73152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103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86.3% of list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</a:rPr>
              <a:t>8.8% response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</a:rPr>
              <a:t>67.7% of subscribers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3D3E"/>
                </a:solidFill>
              </a:rPr>
              <a:t>Low-cost messaging, ranked by the model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avoid leakage: balance the training data only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Clean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(−12 duplicates)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554480"/>
            <a:ext cx="457200" cy="45720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94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48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Drop duration,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flag pdays=999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148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Train /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split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148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Oversample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training 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148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Preprocess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4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1554480"/>
            <a:ext cx="457200" cy="45720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1488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Tune XGBoost,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evaluate on 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291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</a:rPr>
              <a:t>Why it matters: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duration is only known after the call, so using it would be cheating. The test set keeps the real 11.3% rate, so results reflect real calling conditions. Everything runs inside one pipeline, so preprocessing is learned from training data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models, one near-tie: the data matters more than the algorithm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2588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46304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</a:rPr>
              <a:t>Final model: Random Forest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Highest precision (49.5%) so the fewest wasted calls. About 4× better than random (11.3%).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3D3E"/>
                </a:solidFill>
              </a:rPr>
              <a:t>Cheap channels: tuned XGBoost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Highest recall (59.2%) and PR-AUC (0.484).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down the score: the top 20% of customers hold 65% of subscribers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32588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46304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54.2%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of top-decile customers subscribed, vs 11.3% overall.</a:t>
            </a:r>
            <a:endParaRPr lang="en-US" sz="3200" dirty="0"/>
          </a:p>
          <a:p>
            <a:pPr indent="0" marL="0">
              <a:buNone/>
            </a:pPr>
            <a:r>
              <a:rPr lang="en-US" sz="800" dirty="0">
                <a:solidFill>
                  <a:srgbClr val="1B1F2A"/>
                </a:solidFill>
              </a:rPr>
              <a:t> </a:t>
            </a:r>
            <a:endParaRPr lang="en-US" sz="3200" dirty="0"/>
          </a:p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</a:rPr>
              <a:t>Cumulative share of all subscribers captured, test set (8,236 customers).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marketing team should do next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371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Call warm customers first; work the call list in score order.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716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Cap repeat calls; the rate drops below average from the third contact.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Prefer mobile numbers (14.7% vs 5.2%).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688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Stress safety and a guaranteed return when rates are low.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566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Use low-cost intro messages on new customers; they hold 67.7% of subscribers.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3EFE6"/>
          </a:solidFill>
          <a:ln w="12700">
            <a:solidFill>
              <a:srgbClr val="F3E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66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Retrain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5661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Refresh the model every campaign wave as the economy moves.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to keep in mind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Random split, not a time split: results may look better than on a future campaign wave.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Economic indicators partly stand in for the campaign period.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Observational data shows associations, not proof of cause.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Scores rank customers; oversampling shifts the predicted probabilities.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07A3F"/>
                </a:solidFill>
              </a:rPr>
              <a:t>Next step: validate on the newest campaign wave with a time-based split.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B6B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Marketing">
  <a:themeElements>
    <a:clrScheme name="BankMarketing">
      <a:dk1>
        <a:srgbClr val="1B1F2A"/>
      </a:dk1>
      <a:lt1>
        <a:srgbClr val="FFFFFF"/>
      </a:lt1>
      <a:dk2>
        <a:srgbClr val="0F3D3E"/>
      </a:dk2>
      <a:lt2>
        <a:srgbClr val="F3EFE6"/>
      </a:lt2>
      <a:accent1>
        <a:srgbClr val="0F3D3E"/>
      </a:accent1>
      <a:accent2>
        <a:srgbClr val="E07A3F"/>
      </a:accent2>
      <a:accent3>
        <a:srgbClr val="2A9D8F"/>
      </a:accent3>
      <a:accent4>
        <a:srgbClr val="8AB6B0"/>
      </a:accent4>
      <a:accent5>
        <a:srgbClr val="C9C2B2"/>
      </a:accent5>
      <a:accent6>
        <a:srgbClr val="7A8B99"/>
      </a:accent6>
      <a:hlink>
        <a:srgbClr val="2A9D8F"/>
      </a:hlink>
      <a:folHlink>
        <a:srgbClr val="7A8B99"/>
      </a:folHlink>
    </a:clrScheme>
    <a:fontScheme name="BankMarketing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Should the Bank Call?</dc:title>
  <dc:subject>PptxGenJS Presentation</dc:subject>
  <dc:creator>PptxGenJS</dc:creator>
  <cp:lastModifiedBy>PptxGenJS</cp:lastModifiedBy>
  <cp:revision>1</cp:revision>
  <dcterms:created xsi:type="dcterms:W3CDTF">2026-10-03T11:39:02Z</dcterms:created>
  <dcterms:modified xsi:type="dcterms:W3CDTF">2026-10-03T11:39:02Z</dcterms:modified>
</cp:coreProperties>
</file>